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91" d="100"/>
          <a:sy n="91" d="100"/>
        </p:scale>
        <p:origin x="78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D6E6E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0D6E6E"/>
                </a:solidFill>
                <a:latin typeface="Arial"/>
              </a:rPr>
              <a:t>Model Performance Comparison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0D6E6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D2626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Logistic Regression</c:v>
                </c:pt>
                <c:pt idx="1">
                  <c:v>Random Forest</c:v>
                </c:pt>
                <c:pt idx="2">
                  <c:v>XGBoost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86.5</c:v>
                </c:pt>
                <c:pt idx="1">
                  <c:v>87.71</c:v>
                </c:pt>
                <c:pt idx="2">
                  <c:v>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B4B-4152-A909-8F893CDB619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ROC-AUC (%)</c:v>
                </c:pt>
              </c:strCache>
            </c:strRef>
          </c:tx>
          <c:spPr>
            <a:solidFill>
              <a:srgbClr val="E8622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D2626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Logistic Regression</c:v>
                </c:pt>
                <c:pt idx="1">
                  <c:v>Random Forest</c:v>
                </c:pt>
                <c:pt idx="2">
                  <c:v>XGBoost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92.64</c:v>
                </c:pt>
                <c:pt idx="1">
                  <c:v>90.76</c:v>
                </c:pt>
                <c:pt idx="2">
                  <c:v>91.14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B4B-4152-A909-8F893CDB619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60"/>
        </c:scaling>
        <c:delete val="0"/>
        <c:axPos val="l"/>
        <c:majorGridlines>
          <c:spPr>
            <a:ln w="12700" cap="flat">
              <a:solidFill>
                <a:srgbClr val="E0F7F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43377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 &amp;  MACHINE LEARNING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5943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</a:t>
            </a:r>
            <a:endParaRPr lang="en-US" sz="3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— Banking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365760" y="260604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0F7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 •  Random Forest  •  XGBoost  •  Feature Engineering  •  Risk Scoring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3154680"/>
            <a:ext cx="4114800" cy="36576"/>
          </a:xfrm>
          <a:prstGeom prst="rect">
            <a:avLst/>
          </a:prstGeom>
          <a:solidFill>
            <a:srgbClr val="1A8F8F"/>
          </a:solidFill>
          <a:ln w="12700">
            <a:solidFill>
              <a:srgbClr val="1A8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3291840"/>
            <a:ext cx="6400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F7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Yeruva Bala Shreya Reddy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0F7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M.S. Computer Science (Data Science)  |  UNC Charlotte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github.com/shreyayeruvareddy/customer-churn-prediction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223760" y="411480"/>
            <a:ext cx="1737360" cy="960120"/>
          </a:xfrm>
          <a:prstGeom prst="rect">
            <a:avLst/>
          </a:prstGeom>
          <a:solidFill>
            <a:srgbClr val="1A8F8F"/>
          </a:solidFill>
          <a:ln w="12700">
            <a:solidFill>
              <a:srgbClr val="1A8F8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223760" y="45720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7,000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223760" y="96012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0F7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223760" y="1554480"/>
            <a:ext cx="1737360" cy="960120"/>
          </a:xfrm>
          <a:prstGeom prst="rect">
            <a:avLst/>
          </a:prstGeom>
          <a:solidFill>
            <a:srgbClr val="1A8F8F"/>
          </a:solidFill>
          <a:ln w="12700">
            <a:solidFill>
              <a:srgbClr val="1A8F8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223760" y="160020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7223760" y="210312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0F7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223760" y="2697480"/>
            <a:ext cx="1737360" cy="960120"/>
          </a:xfrm>
          <a:prstGeom prst="rect">
            <a:avLst/>
          </a:prstGeom>
          <a:solidFill>
            <a:srgbClr val="1A8F8F"/>
          </a:solidFill>
          <a:ln w="12700">
            <a:solidFill>
              <a:srgbClr val="1A8F8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223760" y="274320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89%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7223760" y="324612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0F7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Accuracy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223760" y="3840480"/>
            <a:ext cx="1737360" cy="960120"/>
          </a:xfrm>
          <a:prstGeom prst="rect">
            <a:avLst/>
          </a:prstGeom>
          <a:solidFill>
            <a:srgbClr val="1A8F8F"/>
          </a:solidFill>
          <a:ln w="12700">
            <a:solidFill>
              <a:srgbClr val="1A8F8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223760" y="388620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92.64%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7223760" y="438912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0F7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ROC-AUC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40233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4023360" cy="411480"/>
          </a:xfrm>
          <a:prstGeom prst="rect">
            <a:avLst/>
          </a:prstGeom>
          <a:solidFill>
            <a:srgbClr val="0D6E6E"/>
          </a:solidFill>
          <a:ln w="12700">
            <a:solidFill>
              <a:srgbClr val="0D6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1463040"/>
            <a:ext cx="201168" cy="201168"/>
          </a:xfrm>
          <a:prstGeom prst="ellipse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" y="1426464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Simulates 7,000 bank customers with realistic financial and behavioral profiles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" y="2029968"/>
            <a:ext cx="201168" cy="201168"/>
          </a:xfrm>
          <a:prstGeom prst="ellipse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68680" y="1993392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20 features capturing churn signals (activity, satisfaction, balance)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" y="2596896"/>
            <a:ext cx="201168" cy="201168"/>
          </a:xfrm>
          <a:prstGeom prst="ellipse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68680" y="2560320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Trains &amp; compares 3 ML models with 5-fold cross-validation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4360" y="3163824"/>
            <a:ext cx="201168" cy="201168"/>
          </a:xfrm>
          <a:prstGeom prst="ellipse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68680" y="3127248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optimal classification threshold to maximize F1 score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" y="3730752"/>
            <a:ext cx="201168" cy="201168"/>
          </a:xfrm>
          <a:prstGeom prst="ellipse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68680" y="3694176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all 7,000 customers with churn probability and risk tier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914400"/>
            <a:ext cx="40233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663440" y="914400"/>
            <a:ext cx="4023360" cy="411480"/>
          </a:xfrm>
          <a:prstGeom prst="rect">
            <a:avLst/>
          </a:prstGeom>
          <a:solidFill>
            <a:srgbClr val="1A8F8F"/>
          </a:solidFill>
          <a:ln w="12700">
            <a:solidFill>
              <a:srgbClr val="1A8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663440" y="91440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00600" y="1444752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0" y="1444752"/>
            <a:ext cx="2148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pipeline language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00600" y="1956816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1.8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0" y="1956816"/>
            <a:ext cx="2148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+ RF + cross-validation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00600" y="246888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3.2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0" y="2468880"/>
            <a:ext cx="2148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classifier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00600" y="2980944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+ numpy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0" y="2980944"/>
            <a:ext cx="2148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simulation &amp; features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00600" y="3493008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00800" y="3493008"/>
            <a:ext cx="2148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 + model performance DB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00600" y="4005072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GitHub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00800" y="4005072"/>
            <a:ext cx="2148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 + portfolio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" y="47548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  |  github.com/shreyayeruvareddy/customer-churn-prediction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2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5-Stage ML Pipeline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0F7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 &gt;&gt;  EDA+Features  &gt;&gt;  ML Training  &gt;&gt;  DB Load  &gt;&gt;  Validate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01168" y="1188720"/>
            <a:ext cx="1600200" cy="3200400"/>
          </a:xfrm>
          <a:prstGeom prst="rect">
            <a:avLst/>
          </a:prstGeom>
          <a:solidFill>
            <a:srgbClr val="0D2626"/>
          </a:solidFill>
          <a:ln w="12700">
            <a:solidFill>
              <a:srgbClr val="E862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01168" y="1188720"/>
            <a:ext cx="1600200" cy="73152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01168" y="1261872"/>
            <a:ext cx="1600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201168" y="1719072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01168" y="2039112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data_generator.py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74320" y="2359152"/>
            <a:ext cx="146304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F7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7,000 customers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0F7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18.1% churn rate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0F7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patterns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0F7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+ behavior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965960" y="1188720"/>
            <a:ext cx="1600200" cy="3200400"/>
          </a:xfrm>
          <a:prstGeom prst="rect">
            <a:avLst/>
          </a:prstGeom>
          <a:solidFill>
            <a:srgbClr val="0D2626"/>
          </a:solidFill>
          <a:ln w="12700">
            <a:solidFill>
              <a:srgbClr val="4FC3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965960" y="1188720"/>
            <a:ext cx="1600200" cy="7315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965960" y="1261872"/>
            <a:ext cx="1600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965960" y="1719072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965960" y="2039112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eda_features.py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039112" y="2359152"/>
            <a:ext cx="146304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F7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insights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0F7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engineered features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0F7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risk score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0F7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Encoded categoricals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730752" y="1188720"/>
            <a:ext cx="1600200" cy="3200400"/>
          </a:xfrm>
          <a:prstGeom prst="rect">
            <a:avLst/>
          </a:prstGeom>
          <a:solidFill>
            <a:srgbClr val="0D2626"/>
          </a:solidFill>
          <a:ln w="12700">
            <a:solidFill>
              <a:srgbClr val="CE93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730752" y="1188720"/>
            <a:ext cx="1600200" cy="73152"/>
          </a:xfrm>
          <a:prstGeom prst="rect">
            <a:avLst/>
          </a:prstGeom>
          <a:solidFill>
            <a:srgbClr val="CE93D8"/>
          </a:solidFill>
          <a:ln w="12700">
            <a:solidFill>
              <a:srgbClr val="CE9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730752" y="1261872"/>
            <a:ext cx="1600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E9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3730752" y="1719072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TRAIN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730752" y="2039112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CE9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ml_models.py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803904" y="2359152"/>
            <a:ext cx="146304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F7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models trained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0F7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CV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0F7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threshold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0F7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risk scoring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495544" y="1188720"/>
            <a:ext cx="1600200" cy="3200400"/>
          </a:xfrm>
          <a:prstGeom prst="rect">
            <a:avLst/>
          </a:prstGeom>
          <a:solidFill>
            <a:srgbClr val="0D2626"/>
          </a:solidFill>
          <a:ln w="12700">
            <a:solidFill>
              <a:srgbClr val="FFB74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495544" y="1188720"/>
            <a:ext cx="1600200" cy="73152"/>
          </a:xfrm>
          <a:prstGeom prst="rect">
            <a:avLst/>
          </a:prstGeom>
          <a:solidFill>
            <a:srgbClr val="FFB74D"/>
          </a:solidFill>
          <a:ln w="12700">
            <a:solidFill>
              <a:srgbClr val="FFB7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495544" y="1261872"/>
            <a:ext cx="1600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5495544" y="1719072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LOAD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95544" y="2039112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db_loader.py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568696" y="2359152"/>
            <a:ext cx="146304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F7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5-table SQLite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0F7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predictions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0F7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0F7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logging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260336" y="1188720"/>
            <a:ext cx="1600200" cy="3200400"/>
          </a:xfrm>
          <a:prstGeom prst="rect">
            <a:avLst/>
          </a:prstGeom>
          <a:solidFill>
            <a:srgbClr val="0D2626"/>
          </a:solidFill>
          <a:ln w="12700">
            <a:solidFill>
              <a:srgbClr val="1A8F8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7260336" y="1188720"/>
            <a:ext cx="1600200" cy="73152"/>
          </a:xfrm>
          <a:prstGeom prst="rect">
            <a:avLst/>
          </a:prstGeom>
          <a:solidFill>
            <a:srgbClr val="1A8F8F"/>
          </a:solidFill>
          <a:ln w="12700">
            <a:solidFill>
              <a:srgbClr val="1A8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260336" y="1261872"/>
            <a:ext cx="1600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A8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7260336" y="1719072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260336" y="2039112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1A8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run_pipeline.py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333488" y="2359152"/>
            <a:ext cx="146304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F7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summary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0F7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distribution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0F7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exports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0F7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metrics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01168" y="4498848"/>
            <a:ext cx="8741664" cy="384048"/>
          </a:xfrm>
          <a:prstGeom prst="rect">
            <a:avLst/>
          </a:prstGeom>
          <a:solidFill>
            <a:srgbClr val="081818"/>
          </a:solidFill>
          <a:ln w="12700">
            <a:solidFill>
              <a:srgbClr val="1A8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201168" y="4498848"/>
            <a:ext cx="87416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pipeline time: 11.62 seconds  |  All 3 models exceed 85% accuracy threshold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 Results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A8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Cross-Validation  •  Optimal Threshold Tuning  •  Stratified Split</a:t>
            </a:r>
            <a:endParaRPr lang="en-US" sz="1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005840"/>
          <a:ext cx="502920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669280" y="1005840"/>
            <a:ext cx="32004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669280" y="1005840"/>
            <a:ext cx="3200400" cy="347472"/>
          </a:xfrm>
          <a:prstGeom prst="rect">
            <a:avLst/>
          </a:prstGeom>
          <a:solidFill>
            <a:srgbClr val="0D6E6E"/>
          </a:solidFill>
          <a:ln w="12700">
            <a:solidFill>
              <a:srgbClr val="0D6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669280" y="100584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METRICS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669280" y="1417320"/>
            <a:ext cx="3200400" cy="438912"/>
          </a:xfrm>
          <a:prstGeom prst="rect">
            <a:avLst/>
          </a:prstGeom>
          <a:solidFill>
            <a:srgbClr val="E0F7F7"/>
          </a:solidFill>
          <a:ln w="12700">
            <a:solidFill>
              <a:srgbClr val="E0F7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669280" y="1417320"/>
            <a:ext cx="8001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469380" y="1417320"/>
            <a:ext cx="8001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269480" y="1417320"/>
            <a:ext cx="8001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8069580" y="1417320"/>
            <a:ext cx="8001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669280" y="1892808"/>
            <a:ext cx="32004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F7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669280" y="1892808"/>
            <a:ext cx="8001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469380" y="1892808"/>
            <a:ext cx="8001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86.5%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269480" y="1892808"/>
            <a:ext cx="8001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67.8%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8069580" y="1892808"/>
            <a:ext cx="8001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92.6%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669280" y="2368296"/>
            <a:ext cx="3200400" cy="438912"/>
          </a:xfrm>
          <a:prstGeom prst="rect">
            <a:avLst/>
          </a:prstGeom>
          <a:solidFill>
            <a:srgbClr val="F0FAFA"/>
          </a:solidFill>
          <a:ln w="12700">
            <a:solidFill>
              <a:srgbClr val="E0F7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5669280" y="2368296"/>
            <a:ext cx="8001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469380" y="2368296"/>
            <a:ext cx="8001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87.7%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7269480" y="2368296"/>
            <a:ext cx="8001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67.4%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8069580" y="2368296"/>
            <a:ext cx="8001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90.8%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669280" y="2843784"/>
            <a:ext cx="32004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F7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5669280" y="2843784"/>
            <a:ext cx="8001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6469380" y="2843784"/>
            <a:ext cx="8001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89.0%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7269480" y="2843784"/>
            <a:ext cx="8001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67.7%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8069580" y="2843784"/>
            <a:ext cx="8001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91.1%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5715000" y="3364992"/>
            <a:ext cx="1463040" cy="621792"/>
          </a:xfrm>
          <a:prstGeom prst="rect">
            <a:avLst/>
          </a:prstGeom>
          <a:solidFill>
            <a:srgbClr val="0D6E6E"/>
          </a:solidFill>
          <a:ln w="12700">
            <a:solidFill>
              <a:srgbClr val="0D6E6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5715000" y="3364992"/>
            <a:ext cx="1463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Best Accuracy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89%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7406640" y="3364992"/>
            <a:ext cx="1371600" cy="621792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7406640" y="3364992"/>
            <a:ext cx="1371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Best ROC-AUC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92.64%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457200" y="4160520"/>
            <a:ext cx="8321040" cy="713232"/>
          </a:xfrm>
          <a:prstGeom prst="rect">
            <a:avLst/>
          </a:prstGeom>
          <a:solidFill>
            <a:srgbClr val="0D6E6E"/>
          </a:solidFill>
          <a:ln w="12700">
            <a:solidFill>
              <a:srgbClr val="0D6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457200" y="4160520"/>
            <a:ext cx="8321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Churn Drivers:  satisfaction_score  •  is_active_member  •  high_risk_flag  •  balance  •  months_inactive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2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Risk Scoring &amp; Business Insights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0F7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predictions  •  4 Risk Tiers  •  Actionable Retention Strategy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8321040" cy="658368"/>
          </a:xfrm>
          <a:prstGeom prst="rect">
            <a:avLst/>
          </a:prstGeom>
          <a:solidFill>
            <a:srgbClr val="0D2626"/>
          </a:solidFill>
          <a:ln w="12700">
            <a:solidFill>
              <a:srgbClr val="E74C3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73152" cy="65836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170432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Risk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468880" y="1170432"/>
            <a:ext cx="1463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1,199 customers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931920" y="1170432"/>
            <a:ext cx="1371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0F7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Prob: &gt; 70%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303520" y="1170432"/>
            <a:ext cx="3383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personal outreach — retention offer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975104"/>
            <a:ext cx="8321040" cy="658368"/>
          </a:xfrm>
          <a:prstGeom prst="rect">
            <a:avLst/>
          </a:prstGeom>
          <a:solidFill>
            <a:srgbClr val="0D2626"/>
          </a:solidFill>
          <a:ln w="12700">
            <a:solidFill>
              <a:srgbClr val="E862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" y="1975104"/>
            <a:ext cx="73152" cy="658368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1975104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468880" y="1975104"/>
            <a:ext cx="1463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 customers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931920" y="1975104"/>
            <a:ext cx="1371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0F7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Prob: 50–70%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303520" y="1975104"/>
            <a:ext cx="3383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email campaign with incentives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779776"/>
            <a:ext cx="8321040" cy="658368"/>
          </a:xfrm>
          <a:prstGeom prst="rect">
            <a:avLst/>
          </a:prstGeom>
          <a:solidFill>
            <a:srgbClr val="0D2626"/>
          </a:solidFill>
          <a:ln w="12700">
            <a:solidFill>
              <a:srgbClr val="F39C1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57200" y="2779776"/>
            <a:ext cx="73152" cy="65836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0080" y="2779776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Risk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468880" y="2779776"/>
            <a:ext cx="1463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232 customers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931920" y="2779776"/>
            <a:ext cx="1371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0F7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Prob: 30–50%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303520" y="2779776"/>
            <a:ext cx="3383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monthly — loyalty program enrollment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584448"/>
            <a:ext cx="8321040" cy="658368"/>
          </a:xfrm>
          <a:prstGeom prst="rect">
            <a:avLst/>
          </a:prstGeom>
          <a:solidFill>
            <a:srgbClr val="0D2626"/>
          </a:solidFill>
          <a:ln w="12700">
            <a:solidFill>
              <a:srgbClr val="2ECC7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57200" y="3584448"/>
            <a:ext cx="73152" cy="65836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40080" y="3584448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Risk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468880" y="3584448"/>
            <a:ext cx="1463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5,473 customers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931920" y="3584448"/>
            <a:ext cx="1371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0F7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Prob: &lt; 30%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303520" y="3584448"/>
            <a:ext cx="3383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engagement — no immediate action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4480560"/>
            <a:ext cx="8321040" cy="457200"/>
          </a:xfrm>
          <a:prstGeom prst="rect">
            <a:avLst/>
          </a:prstGeom>
          <a:solidFill>
            <a:srgbClr val="081818"/>
          </a:solidFill>
          <a:ln w="12700">
            <a:solidFill>
              <a:srgbClr val="E86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57200" y="448056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Germany churn 20.5%  vs  France 16.9%  vs  Spain 16.8%  —  Germany requires localized retention strategy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Engineered Features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A8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features + Behavioral composites + Encodings  •  Prepared with pandas + scikit-learn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40233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64008" cy="77724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21792" y="10972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high_risk_flag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364992" y="10972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[Composite]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21792" y="139903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5 risk signals: inactive + low satisfaction + months inactive + 1 product + low credit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800600" y="1051560"/>
            <a:ext cx="40233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800600" y="1051560"/>
            <a:ext cx="64008" cy="777240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965192" y="10972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satisfaction_score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08392" y="10972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[Raw]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965192" y="139903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1-5 scale — score of 1 adds +2.0 to churn probability (strongest predictor)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1965960"/>
            <a:ext cx="40233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7200" y="1965960"/>
            <a:ext cx="64008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21792" y="20116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is_active_member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64992" y="20116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[Raw]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21792" y="231343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Inactive members have 3x higher churn rate — adds +1.5 to churn score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800600" y="1965960"/>
            <a:ext cx="40233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800600" y="1965960"/>
            <a:ext cx="64008" cy="777240"/>
          </a:xfrm>
          <a:prstGeom prst="rect">
            <a:avLst/>
          </a:prstGeom>
          <a:solidFill>
            <a:srgbClr val="0D6E6E"/>
          </a:solidFill>
          <a:ln w="12700">
            <a:solidFill>
              <a:srgbClr val="0D6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965192" y="20116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balance_per_product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708392" y="20116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D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[Engineered]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965192" y="231343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/ num_products — financial engagement ratio per product held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2880360"/>
            <a:ext cx="40233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57200" y="2880360"/>
            <a:ext cx="64008" cy="777240"/>
          </a:xfrm>
          <a:prstGeom prst="rect">
            <a:avLst/>
          </a:prstGeom>
          <a:solidFill>
            <a:srgbClr val="1A8F8F"/>
          </a:solidFill>
          <a:ln w="12700">
            <a:solidFill>
              <a:srgbClr val="1A8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21792" y="29260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transaction_rate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364992" y="29260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A8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[Engineered]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21792" y="322783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per tenure year — activity frequency signal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800600" y="2880360"/>
            <a:ext cx="40233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800600" y="2880360"/>
            <a:ext cx="64008" cy="77724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965192" y="29260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salary_balance_ratio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708392" y="29260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[Engineered]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965192" y="322783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relative to salary — measures savings behavior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57200" y="3794760"/>
            <a:ext cx="40233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57200" y="3794760"/>
            <a:ext cx="64008" cy="77724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21792" y="3840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credit_tier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364992" y="38404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[Binned]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21792" y="414223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6-tier credit scoring: Very Poor / Poor / Fair / Good / Very Good / Exceptional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800600" y="3794760"/>
            <a:ext cx="40233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4800600" y="3794760"/>
            <a:ext cx="64008" cy="777240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965192" y="3840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germany_enc + france_enc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708392" y="38404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[Encoded]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965192" y="414223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encoding for country — Germany shows +0.30 churn tendency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57200" y="4828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  |  github.com/shreyayeruvareddy/customer-churn-prediction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2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5603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Demonstrated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114800" cy="804672"/>
          </a:xfrm>
          <a:prstGeom prst="rect">
            <a:avLst/>
          </a:prstGeom>
          <a:solidFill>
            <a:srgbClr val="0D2626"/>
          </a:solidFill>
          <a:ln w="12700">
            <a:solidFill>
              <a:srgbClr val="E862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64008" cy="804672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30352" y="1014984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30352" y="134416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models: LR, Random Forest, XGBoost — trained and compared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754880" y="960120"/>
            <a:ext cx="4114800" cy="804672"/>
          </a:xfrm>
          <a:prstGeom prst="rect">
            <a:avLst/>
          </a:prstGeom>
          <a:solidFill>
            <a:srgbClr val="0D2626"/>
          </a:solidFill>
          <a:ln w="12700">
            <a:solidFill>
              <a:srgbClr val="4FC3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754880" y="960120"/>
            <a:ext cx="64008" cy="80467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919472" y="1014984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19472" y="134416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Precision, Recall, F1, ROC-AUC, confusion matrix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1920240"/>
            <a:ext cx="4114800" cy="804672"/>
          </a:xfrm>
          <a:prstGeom prst="rect">
            <a:avLst/>
          </a:prstGeom>
          <a:solidFill>
            <a:srgbClr val="0D2626"/>
          </a:solidFill>
          <a:ln w="12700">
            <a:solidFill>
              <a:srgbClr val="CE93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65760" y="1920240"/>
            <a:ext cx="64008" cy="804672"/>
          </a:xfrm>
          <a:prstGeom prst="rect">
            <a:avLst/>
          </a:prstGeom>
          <a:solidFill>
            <a:srgbClr val="CE93D8"/>
          </a:solidFill>
          <a:ln w="12700">
            <a:solidFill>
              <a:srgbClr val="CE9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30352" y="1975104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30352" y="230428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StratifiedKFold (k=5) with ROC-AUC scoring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54880" y="1920240"/>
            <a:ext cx="4114800" cy="804672"/>
          </a:xfrm>
          <a:prstGeom prst="rect">
            <a:avLst/>
          </a:prstGeom>
          <a:solidFill>
            <a:srgbClr val="0D2626"/>
          </a:solidFill>
          <a:ln w="12700">
            <a:solidFill>
              <a:srgbClr val="FFB74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754880" y="1920240"/>
            <a:ext cx="64008" cy="804672"/>
          </a:xfrm>
          <a:prstGeom prst="rect">
            <a:avLst/>
          </a:prstGeom>
          <a:solidFill>
            <a:srgbClr val="FFB74D"/>
          </a:solidFill>
          <a:ln w="12700">
            <a:solidFill>
              <a:srgbClr val="FFB7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919472" y="1975104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19472" y="230428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class_weight, scale_pos_weight, optimal threshold tuning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2880360"/>
            <a:ext cx="4114800" cy="804672"/>
          </a:xfrm>
          <a:prstGeom prst="rect">
            <a:avLst/>
          </a:prstGeom>
          <a:solidFill>
            <a:srgbClr val="0D2626"/>
          </a:solidFill>
          <a:ln w="12700">
            <a:solidFill>
              <a:srgbClr val="2ECC7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65760" y="2880360"/>
            <a:ext cx="64008" cy="80467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30352" y="2935224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0352" y="326440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features: composites, ratios, bins, one-hot encodings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54880" y="2880360"/>
            <a:ext cx="4114800" cy="804672"/>
          </a:xfrm>
          <a:prstGeom prst="rect">
            <a:avLst/>
          </a:prstGeom>
          <a:solidFill>
            <a:srgbClr val="0D2626"/>
          </a:solidFill>
          <a:ln w="12700">
            <a:solidFill>
              <a:srgbClr val="E74C3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754880" y="2880360"/>
            <a:ext cx="64008" cy="80467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919472" y="2935224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19472" y="326440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with regularization — 89% accuracy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65760" y="3840480"/>
            <a:ext cx="4114800" cy="804672"/>
          </a:xfrm>
          <a:prstGeom prst="rect">
            <a:avLst/>
          </a:prstGeom>
          <a:solidFill>
            <a:srgbClr val="0D2626"/>
          </a:solidFill>
          <a:ln w="12700">
            <a:solidFill>
              <a:srgbClr val="1A8F8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65760" y="3840480"/>
            <a:ext cx="64008" cy="804672"/>
          </a:xfrm>
          <a:prstGeom prst="rect">
            <a:avLst/>
          </a:prstGeom>
          <a:solidFill>
            <a:srgbClr val="1A8F8F"/>
          </a:solidFill>
          <a:ln w="12700">
            <a:solidFill>
              <a:srgbClr val="1A8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30352" y="3895344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Analytics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30352" y="422452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tiers, country analysis, retention recommendations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54880" y="3840480"/>
            <a:ext cx="4114800" cy="804672"/>
          </a:xfrm>
          <a:prstGeom prst="rect">
            <a:avLst/>
          </a:prstGeom>
          <a:solidFill>
            <a:srgbClr val="0D2626"/>
          </a:solidFill>
          <a:ln w="12700">
            <a:solidFill>
              <a:srgbClr val="64748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754880" y="3840480"/>
            <a:ext cx="64008" cy="80467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919472" y="3895344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/ Database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919472" y="422452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5-table schema: customers, predictions, model performance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65760" y="480060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github.com/shreyayeruvareddy/customer-churn-prediction  |  Dec 2025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2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3200400" y="1508760"/>
            <a:ext cx="2743200" cy="45720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627632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E0F7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Prediction — Banking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286000" y="2286000"/>
            <a:ext cx="4572000" cy="502920"/>
          </a:xfrm>
          <a:prstGeom prst="rect">
            <a:avLst/>
          </a:prstGeom>
          <a:solidFill>
            <a:srgbClr val="0D2626"/>
          </a:solidFill>
          <a:ln w="12700">
            <a:solidFill>
              <a:srgbClr val="1A8F8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377440" y="228600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91840" y="228600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F7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github.com/shreyayeruvareddy/customer-churn-prediction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Python 3.11  •  scikit-learn  •  XGBoost  •  7,000 Customers  •  Dec 2025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788</Words>
  <Application>Microsoft Office PowerPoint</Application>
  <PresentationFormat>On-screen Show (16:9)</PresentationFormat>
  <Paragraphs>175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Churn Prediction — Banking</dc:title>
  <dc:subject>PptxGenJS Presentation</dc:subject>
  <dc:creator>Yeruva Bala Shreya Reddy</dc:creator>
  <cp:lastModifiedBy>Shreya Reddy</cp:lastModifiedBy>
  <cp:revision>2</cp:revision>
  <dcterms:created xsi:type="dcterms:W3CDTF">2026-05-19T17:08:41Z</dcterms:created>
  <dcterms:modified xsi:type="dcterms:W3CDTF">2026-05-19T17:38:40Z</dcterms:modified>
</cp:coreProperties>
</file>